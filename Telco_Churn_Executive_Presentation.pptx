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243656"/>
          </a:solidFill>
          <a:ln w="12700">
            <a:solidFill>
              <a:srgbClr val="24365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274320"/>
            <a:ext cx="1371600" cy="13716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0" y="3200400"/>
            <a:ext cx="914400" cy="914400"/>
          </a:xfrm>
          <a:prstGeom prst="ellipse">
            <a:avLst/>
          </a:prstGeom>
          <a:solidFill>
            <a:srgbClr val="E05B4B">
              <a:alpha val="25000"/>
            </a:srgbClr>
          </a:solidFill>
          <a:ln w="12700">
            <a:solidFill>
              <a:srgbClr val="E05B4B">
                <a:alpha val="2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CUSTOMER ANALYTICS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Are Customers Leaving?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Analysis of Customer Churn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Revenue at Stake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4297680"/>
            <a:ext cx="2286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4074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Ziad Afifi  |  Data Science Project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Lost Customer is a Lost Revenue Stream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2651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691640"/>
            <a:ext cx="2651760" cy="54864"/>
          </a:xfrm>
          <a:prstGeom prst="rect">
            <a:avLst/>
          </a:prstGeom>
          <a:solidFill>
            <a:srgbClr val="E05B4B"/>
          </a:solidFill>
          <a:ln w="12700">
            <a:solidFill>
              <a:srgbClr val="E05B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9202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05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26.5%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65760" y="28346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customers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691640"/>
            <a:ext cx="2651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691640"/>
            <a:ext cx="26517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9202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1,869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246120" y="28346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1691640"/>
            <a:ext cx="2651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691640"/>
            <a:ext cx="26517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9202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$3.7M+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126480" y="28346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annual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at risk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39776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Acquiring a new customer costs 5–7× more than retaining one.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at-risk customers early is the most cost-effective retention strategy.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Worked With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00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7,043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651760" y="1600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Records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331720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331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651760" y="2331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per Customer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063240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63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1,869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651760" y="3063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Customers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794760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7947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651760" y="3794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After Cleaning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0" y="1508760"/>
            <a:ext cx="3749040" cy="3200400"/>
          </a:xfrm>
          <a:prstGeom prst="rect">
            <a:avLst/>
          </a:prstGeom>
          <a:solidFill>
            <a:srgbClr val="243656"/>
          </a:solidFill>
          <a:ln w="12700">
            <a:solidFill>
              <a:srgbClr val="2436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212080" y="1645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Covers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212080" y="21031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 (age, gender, dependents)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12080" y="250545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subscribed (internet, phone, TV)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12080" y="290779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&amp; payment type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12080" y="33101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&amp; total charges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12080" y="371246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(how long they've been a customer)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12080" y="4114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label (Yes / No)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IBM Telco Customer Churn Dataset (Kaggle)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Patterns Stand Out Immediately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508760"/>
            <a:ext cx="8595360" cy="3246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48006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customers leave faster, pay more monthly, and almost all avoid long-term contracts.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PROFILE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Most Likely to Leave?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508760"/>
            <a:ext cx="8595360" cy="173736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74320" y="3291840"/>
            <a:ext cx="8595360" cy="1508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citizens, solo customers, and fiber-optic users are significantly more likely to churn.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CHURN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Contract, Charges &amp; Tenure Tell the Story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508760"/>
            <a:ext cx="5669280" cy="237744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43600" y="1508760"/>
            <a:ext cx="2926080" cy="23774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65760" y="4023360"/>
            <a:ext cx="2651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365760" y="4023360"/>
            <a:ext cx="2651760" cy="45720"/>
          </a:xfrm>
          <a:prstGeom prst="rect">
            <a:avLst/>
          </a:prstGeom>
          <a:solidFill>
            <a:srgbClr val="E05B4B"/>
          </a:solidFill>
          <a:ln w="12700">
            <a:solidFill>
              <a:srgbClr val="E05B4B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57200" y="407822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contracts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57200" y="44074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5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42.6% churn rate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3246120" y="4023360"/>
            <a:ext cx="2651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246120" y="4023360"/>
            <a:ext cx="2651760" cy="45720"/>
          </a:xfrm>
          <a:prstGeom prst="rect">
            <a:avLst/>
          </a:prstGeom>
          <a:solidFill>
            <a:srgbClr val="E05B4B"/>
          </a:solidFill>
          <a:ln w="12700">
            <a:solidFill>
              <a:srgbClr val="E05B4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337560" y="407822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year of service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337560" y="44074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5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47.4% churn rate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126480" y="4023360"/>
            <a:ext cx="2651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26480" y="4023360"/>
            <a:ext cx="2651760" cy="45720"/>
          </a:xfrm>
          <a:prstGeom prst="rect">
            <a:avLst/>
          </a:prstGeom>
          <a:solidFill>
            <a:srgbClr val="E05B4B"/>
          </a:solidFill>
          <a:ln w="12700">
            <a:solidFill>
              <a:srgbClr val="E05B4B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217920" y="407822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 optic users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6217920" y="44074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5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41.8% churn rate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a Model to Predict Churn Before It Happens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463040"/>
            <a:ext cx="6217920" cy="3291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629400" y="1463040"/>
            <a:ext cx="2286000" cy="3291840"/>
          </a:xfrm>
          <a:prstGeom prst="rect">
            <a:avLst/>
          </a:prstGeom>
          <a:solidFill>
            <a:srgbClr val="243656"/>
          </a:solidFill>
          <a:ln w="12700">
            <a:solidFill>
              <a:srgbClr val="24365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766560" y="16002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Terms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766560" y="21031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models tested:</a:t>
            </a:r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Logistic Regression &amp; Random Forest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766560" y="27432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~84% accuracy</a:t>
            </a:r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correctly identifying who will churn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766560" y="33832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0.836 vs 0.827:</a:t>
            </a:r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Logistic Regression wins — barely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766560" y="40233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meaning:</a:t>
            </a:r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out of 10 churners, the model catches ~8 of them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5760" y="4855464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trained on 80% of data (5,634 customers) · Tested on 20% holdout (1,409 customers)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Model Actually Look At?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463040"/>
            <a:ext cx="5943600" cy="33375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0" y="1508760"/>
            <a:ext cx="2514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0" y="1508760"/>
            <a:ext cx="64008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10528" y="15819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#01  Tenure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510528" y="193852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they've been a customer — the single strongest signal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0" y="2606040"/>
            <a:ext cx="2514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0800" y="2606040"/>
            <a:ext cx="64008" cy="1005840"/>
          </a:xfrm>
          <a:prstGeom prst="rect">
            <a:avLst/>
          </a:prstGeom>
          <a:solidFill>
            <a:srgbClr val="E05B4B"/>
          </a:solidFill>
          <a:ln w="12700">
            <a:solidFill>
              <a:srgbClr val="E05B4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10528" y="26791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#02  Monthly Charges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510528" y="303580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bills = more likely to question value and leave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400800" y="3703320"/>
            <a:ext cx="2514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00800" y="3703320"/>
            <a:ext cx="64008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10528" y="37764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#03  Contract Type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510528" y="413308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2-year contracts are the strongest loyalty lock-in signal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Random Forest feature importances (relative contribution to prediction accuracy)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Critical Moments That Decide Loyalty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508760"/>
            <a:ext cx="8595360" cy="3017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45720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5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First-Year Cliff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74320" y="484632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 of new customers churn within year 1 — critical onboarding window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227832" y="45720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5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Trap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227832" y="484632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without a contract churn at 15× the rate of 2-year contract holders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181344" y="45720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5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Bill Shock Effect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181344" y="484632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sudden charge spike increases churn risk by 8%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SEGMENTATION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Customers Need the Same Attention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600200"/>
            <a:ext cx="4206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600200"/>
            <a:ext cx="73152" cy="1463040"/>
          </a:xfrm>
          <a:prstGeom prst="rect">
            <a:avLst/>
          </a:prstGeom>
          <a:solidFill>
            <a:srgbClr val="E05B4B"/>
          </a:solidFill>
          <a:ln w="12700">
            <a:solidFill>
              <a:srgbClr val="E05B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6916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/ HIGH Value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" y="20116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5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ACTION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8912" y="231343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to leave AND high spenders. Target with personalized retention offers immediately.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1600200"/>
            <a:ext cx="4206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600200"/>
            <a:ext cx="73152" cy="1463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73752" y="16916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/ LOW Value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73752" y="20116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Closely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73752" y="231343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 but lower revenue impact. Low-cost automated outreach recommended.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4206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73152" cy="1463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91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 / HIGH Value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8912" y="36118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Nurture &amp; Upsell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8912" y="391363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 high-value customers. Invest in loyalty programs to keep them engaged.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3200400"/>
            <a:ext cx="4206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3200400"/>
            <a:ext cx="73152" cy="14630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73752" y="3291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 / LOW Value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73752" y="36118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Care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73752" y="391363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and lower impact. Routine support is sufficient.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IMPACT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Revenue Picture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508760"/>
            <a:ext cx="5029200" cy="2834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0" y="1600200"/>
            <a:ext cx="33375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0" y="1600200"/>
            <a:ext cx="3337560" cy="45720"/>
          </a:xfrm>
          <a:prstGeom prst="rect">
            <a:avLst/>
          </a:prstGeom>
          <a:solidFill>
            <a:srgbClr val="E05B4B"/>
          </a:solidFill>
          <a:ln w="12700">
            <a:solidFill>
              <a:srgbClr val="E05B4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577840" y="167335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5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~$325K/yr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577840" y="210312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/ High-Value revenue at risk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486400" y="2651760"/>
            <a:ext cx="33375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86400" y="2651760"/>
            <a:ext cx="333756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577840" y="272491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~$70K/yr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5577840" y="315468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/ Low-Value revenue at risk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486400" y="3703320"/>
            <a:ext cx="33375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486400" y="3703320"/>
            <a:ext cx="3337560" cy="457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577840" y="377647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~$1.1M+/yr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5577840" y="420624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at-risk revenue (all segments)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74320" y="4434840"/>
            <a:ext cx="859536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446227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Retaining just 25% of high-risk customers could recover over $80K in annual revenue — at a fraction of acquisition cost.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Actions to Start With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8412480" cy="960120"/>
          </a:xfrm>
          <a:prstGeom prst="rect">
            <a:avLst/>
          </a:prstGeom>
          <a:solidFill>
            <a:srgbClr val="243656"/>
          </a:solidFill>
          <a:ln w="12700">
            <a:solidFill>
              <a:srgbClr val="2436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737360"/>
            <a:ext cx="594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115568" y="1874520"/>
            <a:ext cx="36576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1746504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 First-Year Loyalty Program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130552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customers churn at nearly 50% in Year 1. A targeted onboarding sequence — check-in calls, discounts at month 3 and 6 — can cut this dramatically.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743200"/>
            <a:ext cx="8412480" cy="960120"/>
          </a:xfrm>
          <a:prstGeom prst="rect">
            <a:avLst/>
          </a:prstGeom>
          <a:solidFill>
            <a:srgbClr val="243656"/>
          </a:solidFill>
          <a:ln w="12700">
            <a:solidFill>
              <a:srgbClr val="2436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2788920"/>
            <a:ext cx="594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1115568" y="2926080"/>
            <a:ext cx="36576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4440" y="2798064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Incentivize Contract Upgrades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3182112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customers churn 15× more than 2-year contract holders. Offer meaningful incentives for customers to commit — discount, free services, or price lock.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794760"/>
            <a:ext cx="8412480" cy="960120"/>
          </a:xfrm>
          <a:prstGeom prst="rect">
            <a:avLst/>
          </a:prstGeom>
          <a:solidFill>
            <a:srgbClr val="243656"/>
          </a:solidFill>
          <a:ln w="12700">
            <a:solidFill>
              <a:srgbClr val="2436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3840480"/>
            <a:ext cx="594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1115568" y="3977640"/>
            <a:ext cx="36576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4440" y="3849624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Customers to Bill Spikes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4233672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charges trigger churn. Proactive communication before a bill spike — and offering a plan review — signals trust and reduces cancel risk.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2026-05-17T07:34:05Z</dcterms:created>
  <dcterms:modified xsi:type="dcterms:W3CDTF">2026-05-17T07:34:05Z</dcterms:modified>
</cp:coreProperties>
</file>